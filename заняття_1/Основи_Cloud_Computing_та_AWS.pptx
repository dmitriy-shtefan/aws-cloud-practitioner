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Використання ресурсів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Пн</c:v>
                </c:pt>
                <c:pt idx="1">
                  <c:v>Вт</c:v>
                </c:pt>
                <c:pt idx="2">
                  <c:v>Ср</c:v>
                </c:pt>
                <c:pt idx="3">
                  <c:v>Чт</c:v>
                </c:pt>
                <c:pt idx="4">
                  <c:v>Пт</c:v>
                </c:pt>
                <c:pt idx="5">
                  <c:v>Сб</c:v>
                </c:pt>
                <c:pt idx="6">
                  <c:v>Нд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35</c:v>
                </c:pt>
                <c:pt idx="2">
                  <c:v>40</c:v>
                </c:pt>
                <c:pt idx="3">
                  <c:v>55</c:v>
                </c:pt>
                <c:pt idx="4">
                  <c:v>90</c:v>
                </c:pt>
                <c:pt idx="5">
                  <c:v>60</c:v>
                </c:pt>
                <c:pt idx="6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69-9946-B45A-4E52ADACE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1397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91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463040"/>
            <a:ext cx="2926080" cy="2926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/home/claude/aws-deck/icons/clou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021" y="2223821"/>
            <a:ext cx="1404518" cy="1404518"/>
          </a:xfrm>
          <a:prstGeom prst="rect">
            <a:avLst/>
          </a:prstGeom>
        </p:spPr>
      </p:pic>
      <p:pic>
        <p:nvPicPr>
          <p:cNvPr id="4" name="Image 1" descr="/home/claude/aws-deck/icons/cloud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965960"/>
            <a:ext cx="1920240" cy="1920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ВСТУПНИЙ КУРС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94360" y="23317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Основи Cloud Computing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 AWS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640080" y="43434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Хмарні обчислення, сервісні моделі IaaS/PaaS/SaaS та глобальна інфраструктура Amazon Web Services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0080" y="5212080"/>
            <a:ext cx="91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5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заняття · демонстрація AWS Management Console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ХМАРНІ ОБЧИСЛЕННЯ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хмарні обчислення?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/home/claude/aws-deck/icons/databas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Простими словами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Замість того, щоб купувати й обслуговувати власний сервер, ви орендуєте обчислювальні ресурси (сервери, диски, бази даних) через інтернет — і платите тільки за те, що реально використали.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" y="4069080"/>
            <a:ext cx="4389120" cy="0"/>
          </a:xfrm>
          <a:prstGeom prst="line">
            <a:avLst/>
          </a:prstGeom>
          <a:noFill/>
          <a:ln w="12700">
            <a:solidFill>
              <a:srgbClr val="31397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868680" y="4206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5262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як оренда квартири замість будівництва власного будинку: платите щомісяця за проживання, а не за роки будівництва й ремонту.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97880" y="1645920"/>
            <a:ext cx="548640" cy="54864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aws-deck/icons/zap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526" y="17885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1581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Самообслуговування на вимогу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629400" y="194767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Ресурси отримуєте за кілька кліків, без дзвінків у відділ ІТ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897880" y="2724912"/>
            <a:ext cx="548640" cy="54864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/home/claude/aws-deck/icons/globe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526" y="286755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2660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через мережу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629400" y="302666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Керуєте ресурсами з будь-якого пристрою, підключеного до інтернету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897880" y="3803904"/>
            <a:ext cx="548640" cy="54864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3" descr="/home/claude/aws-deck/icons/grid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0526" y="3946550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29400" y="37398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Спільний пул ресурсів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629400" y="410565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і той самий фізичний сервер обслуговує багатьох клієнтів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897880" y="4882896"/>
            <a:ext cx="548640" cy="54864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4" descr="/home/claude/aws-deck/icons/dollar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0526" y="5025542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29400" y="4818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за використання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6629400" y="51846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Рахунок формується на основі фактичного споживання ресурсів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та AWS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СЕРВІСНІ МОДЕЛІ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IaaS, PaaS і SaaS: хто за що відповідає?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ws-deck/icons/server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9164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 керуєте ОС, застосунками та даними — AWS надає лише "залізо"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C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EC2, S3, VPC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7091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C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НАЛАШТОВУЄТЕ ВИ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68680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1607058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2345436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3"/>
          <p:cNvSpPr/>
          <p:nvPr/>
        </p:nvSpPr>
        <p:spPr>
          <a:xfrm>
            <a:off x="3083814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2B347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4"/>
          <p:cNvSpPr/>
          <p:nvPr/>
        </p:nvSpPr>
        <p:spPr>
          <a:xfrm>
            <a:off x="868680" y="53218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 контролю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25112" y="16459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6"/>
          <p:cNvSpPr/>
          <p:nvPr/>
        </p:nvSpPr>
        <p:spPr>
          <a:xfrm>
            <a:off x="4645152" y="1965960"/>
            <a:ext cx="685800" cy="68580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1" descr="/home/claude/aws-deck/icons/layers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144268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68112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5468112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645152" y="28803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керує сервером та ОС — ви лише пишете й запускаєте код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645152" y="39776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C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645152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Beanstalk, RDS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645152" y="47091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C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НАЛАШТОВУЄТЕ ВИ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645152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Shape 24"/>
          <p:cNvSpPr/>
          <p:nvPr/>
        </p:nvSpPr>
        <p:spPr>
          <a:xfrm>
            <a:off x="5383530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Shape 25"/>
          <p:cNvSpPr/>
          <p:nvPr/>
        </p:nvSpPr>
        <p:spPr>
          <a:xfrm>
            <a:off x="6121908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2B347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Shape 26"/>
          <p:cNvSpPr/>
          <p:nvPr/>
        </p:nvSpPr>
        <p:spPr>
          <a:xfrm>
            <a:off x="6860286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2B347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7"/>
          <p:cNvSpPr/>
          <p:nvPr/>
        </p:nvSpPr>
        <p:spPr>
          <a:xfrm>
            <a:off x="4645152" y="53218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8101584" y="16459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3" name="Shape 29"/>
          <p:cNvSpPr/>
          <p:nvPr/>
        </p:nvSpPr>
        <p:spPr>
          <a:xfrm>
            <a:off x="8421624" y="1965960"/>
            <a:ext cx="685800" cy="68580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4" name="Image 2" descr="/home/claude/aws-deck/icons/package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932" y="2144268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244584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200" dirty="0"/>
          </a:p>
        </p:txBody>
      </p:sp>
      <p:sp>
        <p:nvSpPr>
          <p:cNvPr id="36" name="Text 31"/>
          <p:cNvSpPr/>
          <p:nvPr/>
        </p:nvSpPr>
        <p:spPr>
          <a:xfrm>
            <a:off x="9244584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8421624" y="28803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Готовий застосунок у браузері — вам не треба керувати нічим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8421624" y="39776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C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8421624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MS 365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421624" y="47091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C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НАЛАШТОВУЄТЕ ВИ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8421624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2" name="Shape 37"/>
          <p:cNvSpPr/>
          <p:nvPr/>
        </p:nvSpPr>
        <p:spPr>
          <a:xfrm>
            <a:off x="9160002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2B347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3" name="Shape 38"/>
          <p:cNvSpPr/>
          <p:nvPr/>
        </p:nvSpPr>
        <p:spPr>
          <a:xfrm>
            <a:off x="9898380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2B347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4" name="Shape 39"/>
          <p:cNvSpPr/>
          <p:nvPr/>
        </p:nvSpPr>
        <p:spPr>
          <a:xfrm>
            <a:off x="10636758" y="4983480"/>
            <a:ext cx="665226" cy="256032"/>
          </a:xfrm>
          <a:prstGeom prst="roundRect">
            <a:avLst>
              <a:gd name="adj" fmla="val 14286"/>
            </a:avLst>
          </a:prstGeom>
          <a:solidFill>
            <a:srgbClr val="2B347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5" name="Text 40"/>
          <p:cNvSpPr/>
          <p:nvPr/>
        </p:nvSpPr>
        <p:spPr>
          <a:xfrm>
            <a:off x="8421624" y="53218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керує всім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та AWS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ПЕРЕВАГИ AWS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компанії обирають 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897380" y="1965960"/>
            <a:ext cx="822960" cy="82296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ws-deck/icons/arrows_expand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Еластичність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Ресурси автоматично додаються під час пікового навантаження і зменшуються, коли попит спадає — ви не переплачуєте за простій.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971800" cy="0"/>
          </a:xfrm>
          <a:prstGeom prst="line">
            <a:avLst/>
          </a:prstGeom>
          <a:noFill/>
          <a:ln w="12700">
            <a:solidFill>
              <a:srgbClr val="31397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822960" y="5029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інтернет-магазин під час "Чорної п'ятниці" автоматично отримує вдесятеро більше серверів на кілька днів.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5673852" y="1965960"/>
            <a:ext cx="822960" cy="82296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/home/claude/aws-deck/icons/trending_up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822" y="217993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9432" y="2971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Масштабованість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99432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Компанія може розширюватися (вертикально — потужніший сервер, чи горизонтально — більше серверів) без закупівлі нового обладнання.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99432" y="4892040"/>
            <a:ext cx="2971800" cy="0"/>
          </a:xfrm>
          <a:prstGeom prst="line">
            <a:avLst/>
          </a:prstGeom>
          <a:noFill/>
          <a:ln w="12700">
            <a:solidFill>
              <a:srgbClr val="31397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/>
          <p:nvPr/>
        </p:nvSpPr>
        <p:spPr>
          <a:xfrm>
            <a:off x="4599432" y="5029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стартап зростає з 100 до 100 000 користувачів без заміни інфраструктури.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01584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5"/>
          <p:cNvSpPr/>
          <p:nvPr/>
        </p:nvSpPr>
        <p:spPr>
          <a:xfrm>
            <a:off x="9450324" y="1965960"/>
            <a:ext cx="822960" cy="82296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2" descr="/home/claude/aws-deck/icons/shield_check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294" y="2179930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75904" y="2971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Висока доступність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75904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та застосунки дублюються в кількох ізольованих дата-центрах, тому вихід з ладу одного з них не зупиняє сервіс.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375904" y="4892040"/>
            <a:ext cx="2971800" cy="0"/>
          </a:xfrm>
          <a:prstGeom prst="line">
            <a:avLst/>
          </a:prstGeom>
          <a:noFill/>
          <a:ln w="12700">
            <a:solidFill>
              <a:srgbClr val="31397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19"/>
          <p:cNvSpPr/>
          <p:nvPr/>
        </p:nvSpPr>
        <p:spPr>
          <a:xfrm>
            <a:off x="8375904" y="5029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навіть якщо один дата-центр втратить живлення, сайт продовжує працювати.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та AWS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ФІНАНСОВА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проти OpEx: модель pay-as-you-go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ws-deck/icons/briefcase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208117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— власний дата-центр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00200" y="2267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Великі витрати наперед на сервери й обладнання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Потрібно прогнозувати навантаження на роки вперед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Обладнання застаріває та потребує заміни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164592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6675120" y="1938528"/>
            <a:ext cx="548640" cy="54864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aws-deck/icons/dolla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66" y="208117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— хмара AWS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406640" y="2267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Expenditure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675120" y="26974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Немає початкових вкладень у "залізо"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Платите щомісяця за фактичне використання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Ресурси легко змінити відповідно до потреб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/>
          <p:nvPr/>
        </p:nvSpPr>
        <p:spPr>
          <a:xfrm>
            <a:off x="86868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Pay-as-you-go: витрати рухаються слідом за використанням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731520" y="4754880"/>
          <a:ext cx="1069848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та AWS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ГЛОБАЛЬНА ІНФРАСТРУКТУРА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Regions, Availability Zones та Edge Locations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16052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9050">
            <a:solidFill>
              <a:srgbClr val="FF9900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ws-deck/icons/glob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07843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11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 (наприклад, eu-central-1, Франкфурт)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23500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Незалежний географічний регіон з власними дата-центрами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292608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aws-deck/icons/server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154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Ізольований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дата-центр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017520" y="292608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2" descr="/home/claude/aws-deck/icons/server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1546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1752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01752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Ізольований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дата-центр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257800" y="292608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/home/claude/aws-deck/icons/server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1546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AZ-3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25780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Ізольований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дата-центр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822960" y="52120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— фізично відокремлені дата-центри в межах регіону. Вихід з ладу одного AZ не зупиняє інші — основа високої доступності.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772400" y="1691640"/>
            <a:ext cx="3886200" cy="4160520"/>
          </a:xfrm>
          <a:prstGeom prst="roundRect">
            <a:avLst>
              <a:gd name="adj" fmla="val 2824"/>
            </a:avLst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17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4" descr="/home/claude/aws-deck/icons/zap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366" y="2108606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32520" y="19476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Locations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8046720" y="26517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Сотні невеликих точок присутності по всьому світу, набагато ближчих до користувачів, ніж самі Regions.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046720" y="3657600"/>
            <a:ext cx="3337560" cy="0"/>
          </a:xfrm>
          <a:prstGeom prst="line">
            <a:avLst/>
          </a:prstGeom>
          <a:noFill/>
          <a:ln w="12700">
            <a:solidFill>
              <a:srgbClr val="31397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1"/>
          <p:cNvSpPr/>
          <p:nvPr/>
        </p:nvSpPr>
        <p:spPr>
          <a:xfrm>
            <a:off x="8046720" y="384048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Використовуються сервісом CloudFront для кешування контенту (відео, зображення) якнайближче до глядача — сторінка завантажується швидше.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046720" y="50749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замість того, щоб їхати за товаром на головний склад в іншому місті, ви забираєте його з найближчого пункту видачі.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та AWS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Огляд AWS Management Console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160520"/>
          </a:xfrm>
          <a:prstGeom prst="roundRect">
            <a:avLst>
              <a:gd name="adj" fmla="val 2198"/>
            </a:avLst>
          </a:prstGeom>
          <a:solidFill>
            <a:srgbClr val="0E1330"/>
          </a:solidFill>
          <a:ln w="12700">
            <a:solidFill>
              <a:srgbClr val="31397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E2432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137160" cy="137160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261872" y="1828800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737360" y="1737360"/>
            <a:ext cx="4023360" cy="320040"/>
          </a:xfrm>
          <a:prstGeom prst="roundRect">
            <a:avLst>
              <a:gd name="adj" fmla="val 48571"/>
            </a:avLst>
          </a:prstGeom>
          <a:solidFill>
            <a:srgbClr val="0E133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0" descr="/home/claude/aws-deck/icons/search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801368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48840" y="1719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сервіси, елементи, документацію...</a:t>
            </a:r>
            <a:endParaRPr lang="en-US" sz="950" dirty="0"/>
          </a:p>
        </p:txBody>
      </p:sp>
      <p:pic>
        <p:nvPicPr>
          <p:cNvPr id="12" name="Image 1" descr="/home/claude/aws-deck/icons/globe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8013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1832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 (eu-central-1)</a:t>
            </a:r>
            <a:endParaRPr lang="en-US" sz="900" dirty="0"/>
          </a:p>
        </p:txBody>
      </p:sp>
      <p:pic>
        <p:nvPicPr>
          <p:cNvPr id="14" name="Image 2" descr="/home/claude/aws-deck/icons/users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1801368"/>
            <a:ext cx="201168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68680" y="24688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1"/>
          <p:cNvSpPr/>
          <p:nvPr/>
        </p:nvSpPr>
        <p:spPr>
          <a:xfrm>
            <a:off x="1069848" y="2670048"/>
            <a:ext cx="457200" cy="45720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3" descr="/home/claude/aws-deck/icons/server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278892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2688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069848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Віртуальні сервери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502152" y="24688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5"/>
          <p:cNvSpPr/>
          <p:nvPr/>
        </p:nvSpPr>
        <p:spPr>
          <a:xfrm>
            <a:off x="3703320" y="2670048"/>
            <a:ext cx="457200" cy="45720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4" descr="/home/claude/aws-deck/icons/database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192" y="2788920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79392" y="2688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370332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Керовані бази даних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135624" y="24688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19"/>
          <p:cNvSpPr/>
          <p:nvPr/>
        </p:nvSpPr>
        <p:spPr>
          <a:xfrm>
            <a:off x="6336792" y="2670048"/>
            <a:ext cx="457200" cy="45720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5" descr="/home/claude/aws-deck/icons/box_oran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2788920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12864" y="2688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336792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Об'єктне сховище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8769096" y="24688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Shape 23"/>
          <p:cNvSpPr/>
          <p:nvPr/>
        </p:nvSpPr>
        <p:spPr>
          <a:xfrm>
            <a:off x="8970264" y="2670048"/>
            <a:ext cx="457200" cy="457200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2" name="Image 6" descr="/home/claude/aws-deck/icons/cpu_oran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9136" y="2788920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546336" y="2688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8970264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Serverless-функції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868680" y="416052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6" name="Text 27"/>
          <p:cNvSpPr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1371600" y="41330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сервісів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371600" y="44165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 доступ до будь-якого з 200+ сервісів AWS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434840" y="416052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0" name="Text 31"/>
          <p:cNvSpPr/>
          <p:nvPr/>
        </p:nvSpPr>
        <p:spPr>
          <a:xfrm>
            <a:off x="44348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4937760" y="41330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регіону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4937760" y="44165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Визначає, де фізично будуть створені ваші ресурси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8001000" y="416052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4" name="Text 35"/>
          <p:cNvSpPr/>
          <p:nvPr/>
        </p:nvSpPr>
        <p:spPr>
          <a:xfrm>
            <a:off x="80010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8503920" y="41330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сервісів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8503920" y="44165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останніх і рекомендованих сервісів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та AWS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ЗАВДАННЯ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Разом створюємо перший S3 bucket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Виконаємо це прямо зараз у Console — повторюйте кроки за мною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74980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/home/claude/aws-deck/icons/termin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0756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877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Відкрити Console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2953512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Увійти в AWS Management Console під своїм обліковим записом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454456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2" name="Image 1" descr="/home/claude/aws-deck/icons/search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07568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4568" y="25877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сервіс S3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44568" y="2953512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рядку пошуку вгорі ввести "S3" та відкрити сервіс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8745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2"/>
          <p:cNvSpPr/>
          <p:nvPr/>
        </p:nvSpPr>
        <p:spPr>
          <a:xfrm>
            <a:off x="833932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17" name="Image 2" descr="/home/claude/aws-deck/icons/box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207568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25877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bucket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39328" y="2953512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Натиснути кнопку "Create bucket" та задати унікальне ім'я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6"/>
          <p:cNvSpPr/>
          <p:nvPr/>
        </p:nvSpPr>
        <p:spPr>
          <a:xfrm>
            <a:off x="74980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2" name="Image 3" descr="/home/claude/aws-deck/icons/map_pin_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422452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473659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регіон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49808" y="5102352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Наприклад, eu-central-1 (Frankfurt) — ближче до наших користувачів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3400" y="40233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0"/>
          <p:cNvSpPr/>
          <p:nvPr/>
        </p:nvSpPr>
        <p:spPr>
          <a:xfrm>
            <a:off x="454456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27" name="Image 4" descr="/home/claude/aws-deck/icons/shield_check_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4224528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44568" y="473659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доступ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44568" y="5102352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Публічний доступ заблоковано за замовчуванням — це безпечно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38160" y="40233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4"/>
          <p:cNvSpPr/>
          <p:nvPr/>
        </p:nvSpPr>
        <p:spPr>
          <a:xfrm>
            <a:off x="833932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pic>
        <p:nvPicPr>
          <p:cNvPr id="32" name="Image 5" descr="/home/claude/aws-deck/icons/check_circle_i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4240" y="4224528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9328" y="473659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Готово!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39328" y="5102352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Натискаємо "Create bucket" — сховище створено і готове до використання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та AWS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варто запам'ятати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/home/claude/aws-deck/icons/check_circl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1791492"/>
            <a:ext cx="184343" cy="184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3677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Хмара — це оренда обчислювальних ресурсів через інтернет з оплатою за фактичне використання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/home/claude/aws-deck/icons/check_circl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2449860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29514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PaaS, SaaS відрізняються тим, скільки контролю (і відповідальності) залишається на вас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2" descr="/home/claude/aws-deck/icons/check_circl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108228"/>
            <a:ext cx="184343" cy="184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9535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дає еластичність, масштабованість і високу доступність завдяки глобальній інфраструктурі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66744"/>
            <a:ext cx="384048" cy="384048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3" descr="/home/claude/aws-deck/icons/check_circl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766596"/>
            <a:ext cx="184343" cy="184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611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(OpEx) замінює великі капітальні витрати (CapEx) на гнучкі щомісячні платежі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325112"/>
            <a:ext cx="384048" cy="384048"/>
          </a:xfrm>
          <a:prstGeom prst="ellipse">
            <a:avLst/>
          </a:prstGeom>
          <a:solidFill>
            <a:srgbClr val="232C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4" descr="/home/claude/aws-deck/icons/check_circl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424964"/>
            <a:ext cx="184343" cy="18434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4270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Regions, Availability Zones та Edge Locations разом забезпечують надійність і швидкість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9235440" y="1691640"/>
            <a:ext cx="2423160" cy="3017520"/>
          </a:xfrm>
          <a:prstGeom prst="roundRect">
            <a:avLst>
              <a:gd name="adj" fmla="val 452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5" descr="/home/claude/aws-deck/icons/arrow_righ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92024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509760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Наступне заняття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9509760" y="3063240"/>
            <a:ext cx="1920240" cy="70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Безпека,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</a:t>
            </a:r>
            <a:r>
              <a:rPr lang="ru-RU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та AWS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826</Words>
  <Application>Microsoft Macintosh PowerPoint</Application>
  <PresentationFormat>Widescreen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2</cp:revision>
  <dcterms:created xsi:type="dcterms:W3CDTF">2026-08-18T22:06:46Z</dcterms:created>
  <dcterms:modified xsi:type="dcterms:W3CDTF">2026-08-19T20:23:13Z</dcterms:modified>
</cp:coreProperties>
</file>